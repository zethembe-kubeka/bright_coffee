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b5b0510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b5b0510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6b5b0510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6b5b051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01 | EXECUTIVE 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Revenue is steady, with clear areas to grow.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12648" y="152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The biggest opportunities are the products we sell and the months when demand is strongest.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640080" y="1965960"/>
            <a:ext cx="3520440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40080" y="1965960"/>
            <a:ext cx="54864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41247" y="213055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REVENUE ENGINE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41250" y="2532907"/>
            <a:ext cx="31365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B533E"/>
                </a:solidFill>
                <a:latin typeface="Arial"/>
                <a:ea typeface="Arial"/>
                <a:cs typeface="Arial"/>
                <a:sym typeface="Arial"/>
              </a:rPr>
              <a:t>Coffee and tea bring in the most revenue. Keep them available and easy to find.</a:t>
            </a:r>
            <a:endParaRPr sz="1700">
              <a:solidFill>
                <a:srgbClr val="9B533E"/>
              </a:solidFill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343400" y="1965960"/>
            <a:ext cx="3520440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343400" y="1965960"/>
            <a:ext cx="54864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9B53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544568" y="213055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GROWTH WINDOW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544568" y="2532888"/>
            <a:ext cx="31365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B533E"/>
                </a:solidFill>
                <a:latin typeface="Arial"/>
                <a:ea typeface="Arial"/>
                <a:cs typeface="Arial"/>
                <a:sym typeface="Arial"/>
              </a:rPr>
              <a:t>June is the strongest month. January and February are the weakest.</a:t>
            </a:r>
            <a:endParaRPr sz="2100">
              <a:solidFill>
                <a:srgbClr val="9B533E"/>
              </a:solidFill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46720" y="1965960"/>
            <a:ext cx="3520440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46720" y="1965960"/>
            <a:ext cx="54864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7491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247888" y="213055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OPERATING MODEL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47888" y="2532888"/>
            <a:ext cx="31365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B533E"/>
                </a:solidFill>
                <a:latin typeface="Arial"/>
                <a:ea typeface="Arial"/>
                <a:cs typeface="Arial"/>
                <a:sym typeface="Arial"/>
              </a:rPr>
              <a:t>Revenue is spread fairly evenly across stores and days.</a:t>
            </a:r>
            <a:endParaRPr sz="1700">
              <a:solidFill>
                <a:srgbClr val="9B533E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" y="43159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CEO takeaway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" y="4681728"/>
            <a:ext cx="10744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The focus should be simple: protect what already sells well, then use targeted offers to grow weaker areas.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640080" y="411480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E3427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3063240" y="1143000"/>
            <a:ext cx="1828800" cy="22860"/>
          </a:xfrm>
          <a:prstGeom prst="rect">
            <a:avLst/>
          </a:prstGeom>
          <a:solidFill>
            <a:srgbClr val="B880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68680" y="160020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01   Executive View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868680" y="233172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02   Sales Trend – Monthly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868680" y="306324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03   Sales Trend – Daily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868680" y="379476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04   Revenue by Store Location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532120" y="160020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05   Revenue by Location &amp; Time of Day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532120" y="233172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06   Revenue by Product Category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532120" y="306324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07   Revenue by Product Type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532120" y="379476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FAF4EC"/>
          </a:solidFill>
          <a:ln cap="flat" cmpd="sng" w="10150">
            <a:solidFill>
              <a:srgbClr val="E0CC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08   CEO Action Plan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10287000" y="5394960"/>
            <a:ext cx="411480" cy="411480"/>
          </a:xfrm>
          <a:prstGeom prst="ellipse">
            <a:avLst/>
          </a:prstGeom>
          <a:solidFill>
            <a:srgbClr val="B880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02 | SALES TREND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June is the strongest month for revenue.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Revenue is much stronger in some months than others.</a:t>
            </a:r>
            <a:endParaRPr/>
          </a:p>
        </p:txBody>
      </p:sp>
      <p:pic>
        <p:nvPicPr>
          <p:cNvPr descr="monthly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874519"/>
            <a:ext cx="6217920" cy="378561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7726679" y="1874519"/>
            <a:ext cx="3794760" cy="15087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726679" y="1874519"/>
            <a:ext cx="54864" cy="15087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927848" y="2039112"/>
            <a:ext cx="342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sz="1900"/>
          </a:p>
        </p:txBody>
      </p:sp>
      <p:sp>
        <p:nvSpPr>
          <p:cNvPr id="135" name="Google Shape;135;p16"/>
          <p:cNvSpPr txBox="1"/>
          <p:nvPr/>
        </p:nvSpPr>
        <p:spPr>
          <a:xfrm>
            <a:off x="7927848" y="2441448"/>
            <a:ext cx="34107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Revenue is lowest in January and February, then rises through May to its highest point in June.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726679" y="3611880"/>
            <a:ext cx="3794760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726679" y="3611880"/>
            <a:ext cx="54864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9B53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7927848" y="3776472"/>
            <a:ext cx="342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900">
              <a:solidFill>
                <a:srgbClr val="DAA53D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927848" y="4178808"/>
            <a:ext cx="34107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Plan stock and staffing ahead of May and June. Use simple promotions in January and February to bring customers back.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726679" y="574243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03 | DAY-OF-WEEK PERFORMANCE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Daily revenue is fairly steady.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No single day carries the business.</a:t>
            </a:r>
            <a:endParaRPr/>
          </a:p>
        </p:txBody>
      </p:sp>
      <p:pic>
        <p:nvPicPr>
          <p:cNvPr descr="daily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874519"/>
            <a:ext cx="5715000" cy="376732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7360920" y="1874519"/>
            <a:ext cx="4160520" cy="178308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360920" y="1874519"/>
            <a:ext cx="54864" cy="178308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562088" y="2039112"/>
            <a:ext cx="379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900"/>
          </a:p>
        </p:txBody>
      </p:sp>
      <p:sp>
        <p:nvSpPr>
          <p:cNvPr id="155" name="Google Shape;155;p17"/>
          <p:cNvSpPr txBox="1"/>
          <p:nvPr/>
        </p:nvSpPr>
        <p:spPr>
          <a:xfrm>
            <a:off x="7562088" y="2441448"/>
            <a:ext cx="37764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Revenue stays within a narrow range across the week. Monday, </a:t>
            </a:r>
            <a:r>
              <a:rPr lang="en-US" sz="1700">
                <a:solidFill>
                  <a:srgbClr val="783F04"/>
                </a:solidFill>
              </a:rPr>
              <a:t>Thursday,</a:t>
            </a: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 and Friday are slightly stronger, while Saturday is lower.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360920" y="3913632"/>
            <a:ext cx="4160520" cy="16002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360920" y="3913632"/>
            <a:ext cx="54864" cy="16002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7491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7562088" y="4078224"/>
            <a:ext cx="3794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800">
              <a:solidFill>
                <a:srgbClr val="DAA53D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562088" y="4480560"/>
            <a:ext cx="37764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Keep staffing fairly consistent. Use small promotions on softer days instead of making big changes to the weekly schedule.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04 | LOCATION DISTRIBUTION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Revenue is fairly balanced across the three stores.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No single store dominates total revenue.</a:t>
            </a:r>
            <a:endParaRPr/>
          </a:p>
        </p:txBody>
      </p:sp>
      <p:pic>
        <p:nvPicPr>
          <p:cNvPr descr="location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6126480" cy="39044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7315200" y="1828800"/>
            <a:ext cx="4206240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15200" y="1828800"/>
            <a:ext cx="54864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516368" y="1993392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sz="1900"/>
          </a:p>
        </p:txBody>
      </p:sp>
      <p:sp>
        <p:nvSpPr>
          <p:cNvPr id="174" name="Google Shape;174;p18"/>
          <p:cNvSpPr txBox="1"/>
          <p:nvPr/>
        </p:nvSpPr>
        <p:spPr>
          <a:xfrm>
            <a:off x="7516368" y="2395728"/>
            <a:ext cx="3822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Hell’s Kitchen contributes about 33.8% and Lower Manhattan about 32.9%, with the remaining share coming from the third store</a:t>
            </a:r>
            <a:r>
              <a:rPr b="0" i="0" lang="en-US" sz="1500" u="none" cap="none" strike="noStrike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315200" y="3931920"/>
            <a:ext cx="4206240" cy="17373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315200" y="3931920"/>
            <a:ext cx="54864" cy="17373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9B53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516368" y="4096511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900">
              <a:solidFill>
                <a:srgbClr val="DAA53D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516368" y="4498848"/>
            <a:ext cx="3822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Do not move investment based on revenue alone. Compare customer numbers and average spend to see where each store can grow.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05 | LOCATION × TIME OF DAY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Astoria may have an evening opportunity.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The stores are similar through the day, with one useful difference.</a:t>
            </a:r>
            <a:endParaRPr/>
          </a:p>
        </p:txBody>
      </p:sp>
      <p:pic>
        <p:nvPicPr>
          <p:cNvPr descr="time_location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6400800" cy="360273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7909560" y="1828800"/>
            <a:ext cx="3657600" cy="15087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909560" y="1828800"/>
            <a:ext cx="54864" cy="15087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110728" y="1993392"/>
            <a:ext cx="3291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sz="1900"/>
          </a:p>
        </p:txBody>
      </p:sp>
      <p:sp>
        <p:nvSpPr>
          <p:cNvPr id="193" name="Google Shape;193;p19"/>
          <p:cNvSpPr txBox="1"/>
          <p:nvPr/>
        </p:nvSpPr>
        <p:spPr>
          <a:xfrm>
            <a:off x="8110728" y="2395728"/>
            <a:ext cx="32736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Revenue is similar across stores during the day, but Astoria appears stronger at night.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909560" y="3611880"/>
            <a:ext cx="3657600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909560" y="3611880"/>
            <a:ext cx="54864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7491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8110728" y="3776472"/>
            <a:ext cx="3291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900">
              <a:solidFill>
                <a:srgbClr val="DAA53D"/>
              </a:solidFill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8110728" y="4178808"/>
            <a:ext cx="32736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Test an evening offer in Astoria. Adjust staffing and stock, then measure the extra revenue before rolling it out.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06 | PRODUCT CATEGORY PERFORMANCE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Coffee and tea are the main revenue drivers.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The category mix shows where Bright Coffee should focus.</a:t>
            </a:r>
            <a:endParaRPr/>
          </a:p>
        </p:txBody>
      </p:sp>
      <p:pic>
        <p:nvPicPr>
          <p:cNvPr descr="category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5989320" cy="3621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7315200" y="1828800"/>
            <a:ext cx="4206240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315200" y="1828800"/>
            <a:ext cx="54864" cy="182880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7516368" y="1993392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NSIGHT</a:t>
            </a:r>
            <a:endParaRPr sz="1900"/>
          </a:p>
        </p:txBody>
      </p:sp>
      <p:sp>
        <p:nvSpPr>
          <p:cNvPr id="212" name="Google Shape;212;p20"/>
          <p:cNvSpPr txBox="1"/>
          <p:nvPr/>
        </p:nvSpPr>
        <p:spPr>
          <a:xfrm>
            <a:off x="7516368" y="2395728"/>
            <a:ext cx="3822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Coffee brings in roughly 270K, followed by </a:t>
            </a:r>
            <a:r>
              <a:rPr lang="en-US" sz="1700">
                <a:solidFill>
                  <a:srgbClr val="783F04"/>
                </a:solidFill>
              </a:rPr>
              <a:t>tea</a:t>
            </a: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 at roughly 196K. Bakery and </a:t>
            </a:r>
            <a:r>
              <a:rPr lang="en-US" sz="1700">
                <a:solidFill>
                  <a:srgbClr val="783F04"/>
                </a:solidFill>
              </a:rPr>
              <a:t>drinking chocolate</a:t>
            </a: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 are also useful contributors.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315200" y="3931920"/>
            <a:ext cx="4206240" cy="17373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315200" y="3931920"/>
            <a:ext cx="54864" cy="173736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9B53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516368" y="4096511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A53D"/>
                </a:solidFill>
              </a:rPr>
              <a:t>RECOMMENDATION</a:t>
            </a:r>
            <a:endParaRPr sz="2200">
              <a:solidFill>
                <a:srgbClr val="DAA53D"/>
              </a:solidFill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7516368" y="4498848"/>
            <a:ext cx="38223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Keep </a:t>
            </a:r>
            <a:r>
              <a:rPr lang="en-US" sz="1700">
                <a:solidFill>
                  <a:srgbClr val="783F04"/>
                </a:solidFill>
              </a:rPr>
              <a:t>coffee</a:t>
            </a: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700">
                <a:solidFill>
                  <a:srgbClr val="783F04"/>
                </a:solidFill>
              </a:rPr>
              <a:t>tea</a:t>
            </a: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 well stocked and visible. Use bundles to add bakery and other lower-revenue items to popular purchases.</a:t>
            </a:r>
            <a:endParaRPr sz="1600">
              <a:solidFill>
                <a:srgbClr val="783F04"/>
              </a:solidFill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07 | PRODUCT TYPE PERFORMANCE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A few products bring in much more revenue than the rest.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Protect the best sellers and give weaker products a chance to improve.</a:t>
            </a:r>
            <a:endParaRPr/>
          </a:p>
        </p:txBody>
      </p:sp>
      <p:pic>
        <p:nvPicPr>
          <p:cNvPr descr="product_typ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51663"/>
            <a:ext cx="5760719" cy="351129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7315200" y="1828800"/>
            <a:ext cx="4206240" cy="164592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315200" y="1828800"/>
            <a:ext cx="54864" cy="1645920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7516368" y="1993392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NSIGHT</a:t>
            </a:r>
            <a:endParaRPr sz="1900"/>
          </a:p>
        </p:txBody>
      </p:sp>
      <p:sp>
        <p:nvSpPr>
          <p:cNvPr id="231" name="Google Shape;231;p21"/>
          <p:cNvSpPr txBox="1"/>
          <p:nvPr/>
        </p:nvSpPr>
        <p:spPr>
          <a:xfrm>
            <a:off x="7516368" y="2395728"/>
            <a:ext cx="3822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Barista Espresso is the clear standout, with Brewed Chai Tea, Gourmet Beans and House Blend also performing well.</a:t>
            </a:r>
            <a:endParaRPr sz="1500">
              <a:solidFill>
                <a:srgbClr val="783F04"/>
              </a:solidFill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315200" y="3749039"/>
            <a:ext cx="4206240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2F23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315200" y="3749039"/>
            <a:ext cx="54864" cy="1874519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7491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516368" y="3913631"/>
            <a:ext cx="384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900">
              <a:solidFill>
                <a:srgbClr val="DAA53D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516368" y="4315968"/>
            <a:ext cx="3822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Keep top sellers in stock, promote mid-level products, and test weaker products before deciding whether to remove </a:t>
            </a:r>
            <a:r>
              <a:rPr b="0" i="0" lang="en-US" sz="18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600" u="none" cap="none" strike="noStrike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hem.</a:t>
            </a:r>
            <a:endParaRPr sz="1500">
              <a:solidFill>
                <a:srgbClr val="783F04"/>
              </a:solidFill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1F18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94360" y="3840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AA53D"/>
                </a:solidFill>
                <a:latin typeface="Arial"/>
                <a:ea typeface="Arial"/>
                <a:cs typeface="Arial"/>
                <a:sym typeface="Arial"/>
              </a:rPr>
              <a:t>08 | CEO ACTION PLAN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Five practical actions to grow revenue.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12648" y="134416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Protect the core, then grow the weaker areas.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685800" y="1783080"/>
            <a:ext cx="566928" cy="566928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685800" y="192938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463040" y="1764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Protect the core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886200" y="1764792"/>
            <a:ext cx="7406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Keep </a:t>
            </a:r>
            <a:r>
              <a:rPr lang="en-US" sz="1300">
                <a:solidFill>
                  <a:srgbClr val="4E3427"/>
                </a:solidFill>
              </a:rPr>
              <a:t>coffee,</a:t>
            </a: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4E3427"/>
                </a:solidFill>
              </a:rPr>
              <a:t>tea,</a:t>
            </a: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 and the best-selling products in stock and easy to find.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685800" y="2651760"/>
            <a:ext cx="566928" cy="566928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685800" y="279806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463040" y="2633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Attack the weak months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886200" y="2633472"/>
            <a:ext cx="7406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Run simple January–February promotions to bring demand back up.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685800" y="3520439"/>
            <a:ext cx="566928" cy="566928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685800" y="366674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463040" y="3502151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Lift basket size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3886200" y="3502151"/>
            <a:ext cx="7406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Test coffee or tea with bakery bundles and track average spend per customer.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685800" y="4389120"/>
            <a:ext cx="566928" cy="566928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685800" y="45354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463040" y="4370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Localise the playbook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3886200" y="4370832"/>
            <a:ext cx="7406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Use each store’s strongest trading times to plan staff, </a:t>
            </a:r>
            <a:r>
              <a:rPr lang="en-US" sz="1300">
                <a:solidFill>
                  <a:srgbClr val="4E3427"/>
                </a:solidFill>
              </a:rPr>
              <a:t>stock,</a:t>
            </a: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 and promotions.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685800" y="5257800"/>
            <a:ext cx="566928" cy="566928"/>
          </a:xfrm>
          <a:prstGeom prst="roundRect">
            <a:avLst>
              <a:gd fmla="val 8000" name="adj"/>
            </a:avLst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85800" y="540410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463040" y="5239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Test, measure, scale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3886200" y="5239512"/>
            <a:ext cx="7406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Test Astoria evening offers first, measure the </a:t>
            </a:r>
            <a:r>
              <a:rPr lang="en-US" sz="1300">
                <a:solidFill>
                  <a:srgbClr val="4E3427"/>
                </a:solidFill>
              </a:rPr>
              <a:t>result, and</a:t>
            </a:r>
            <a:r>
              <a:rPr b="0" i="0" lang="en-US" sz="13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 then scale what works.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685800" y="6263640"/>
            <a:ext cx="10607040" cy="36576"/>
          </a:xfrm>
          <a:prstGeom prst="rect">
            <a:avLst/>
          </a:prstGeom>
          <a:solidFill>
            <a:srgbClr val="FAF3EB"/>
          </a:solidFill>
          <a:ln cap="flat" cmpd="sng" w="9525">
            <a:solidFill>
              <a:srgbClr val="D7A5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85800" y="63825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BRIGHT COFFEE  |  REVENUE PERFORMANCE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E3427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